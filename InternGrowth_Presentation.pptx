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4F19"/>
                </a:solidFill>
                <a:latin typeface="Consolas"/>
              </a:defRPr>
            </a:pPr>
            <a:r>
              <a:t>— INTRODUCING INTERNGROWTH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2EEE5"/>
                </a:solidFill>
                <a:latin typeface="Trebuchet MS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2EEE5"/>
                </a:solidFill>
                <a:latin typeface="Trebuchet MS"/>
              </a:defRPr>
            </a:pPr>
            <a:r>
              <a:t>Your Work Becomes</a:t>
            </a:r>
          </a:p>
          <a:p>
            <a:pPr>
              <a:defRPr sz="7200" i="1" b="1">
                <a:solidFill>
                  <a:srgbClr val="FF4F19"/>
                </a:solidFill>
                <a:latin typeface="Georgia"/>
              </a:defRPr>
            </a:pPr>
            <a:r>
              <a:t>Your Resume.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>
                <a:solidFill>
                  <a:srgbClr val="F2EEE5"/>
                </a:solidFill>
                <a:latin typeface="Segoe UI"/>
              </a:defRPr>
            </a:pPr>
            <a:r>
              <a:t>InternGrowth is an editorial, proof-of-work marketplace where students tackle real startup tasks, earn verified experience, and build an on-chain, reputation-backed resume.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943600"/>
            <a:ext cx="1828800" cy="54864"/>
          </a:xfrm>
          <a:prstGeom prst="rect">
            <a:avLst/>
          </a:prstGeom>
          <a:solidFill>
            <a:srgbClr val="D4F95E"/>
          </a:solidFill>
          <a:ln>
            <a:solidFill>
              <a:srgbClr val="D4F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C6470"/>
                </a:solidFill>
                <a:latin typeface="Consolas"/>
              </a:defRPr>
            </a:pPr>
            <a:r>
              <a:t>— 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B0F14"/>
                </a:solidFill>
                <a:latin typeface="Trebuchet MS"/>
              </a:defRPr>
            </a:pPr>
            <a:r>
              <a:t>The Broken Developer Hiring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365760"/>
          <a:lstStyle/>
          <a:p>
            <a:pPr algn="ctr">
              <a:defRPr sz="1200" b="1">
                <a:solidFill>
                  <a:srgbClr val="FF4F19"/>
                </a:solidFill>
                <a:latin typeface="Consolas"/>
              </a:defRPr>
            </a:pPr>
            <a:r>
              <a:t>FOR STUDENTS</a:t>
            </a:r>
          </a:p>
          <a:p>
            <a:br/>
            <a:pPr>
              <a:defRPr sz="2200" b="1">
                <a:solidFill>
                  <a:srgbClr val="0B0F14"/>
                </a:solidFill>
                <a:latin typeface="Trebuchet MS"/>
              </a:defRPr>
            </a:pPr>
            <a:r>
              <a:t>The Experience Catch-22</a:t>
            </a:r>
          </a:p>
          <a:p>
            <a:br/>
            <a:pPr>
              <a:lnSpc>
                <a:spcPct val="120000"/>
              </a:lnSpc>
              <a:defRPr sz="1400">
                <a:solidFill>
                  <a:srgbClr val="5C6470"/>
                </a:solidFill>
                <a:latin typeface="Segoe UI"/>
              </a:defRPr>
            </a:pPr>
            <a:r>
              <a:t>• No Experience, No Job: Students cannot get internships or roles because they lack previous 'commercial' experience.</a:t>
            </a:r>
          </a:p>
          <a:p>
            <a:br/>
            <a:pPr>
              <a:lnSpc>
                <a:spcPct val="120000"/>
              </a:lnSpc>
              <a:defRPr sz="1400">
                <a:solidFill>
                  <a:srgbClr val="5C6470"/>
                </a:solidFill>
                <a:latin typeface="Segoe UI"/>
              </a:defRPr>
            </a:pPr>
            <a:r>
              <a:t>• Resumes are Inflated: Text PDF resumes are packed with buzzwords, boilerplate school projects, or AI-generated exaggerations.</a:t>
            </a:r>
          </a:p>
          <a:p>
            <a:br/>
            <a:pPr>
              <a:lnSpc>
                <a:spcPct val="120000"/>
              </a:lnSpc>
              <a:defRPr sz="1400">
                <a:solidFill>
                  <a:srgbClr val="5C6470"/>
                </a:solidFill>
                <a:latin typeface="Segoe UI"/>
              </a:defRPr>
            </a:pPr>
            <a:r>
              <a:t>• Unfair Access: Opportunities are locked behind college brand prestige, ignoring self-taught, high-ability developers.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28232" y="1828800"/>
            <a:ext cx="4846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365760"/>
          <a:lstStyle/>
          <a:p>
            <a:pPr algn="ctr">
              <a:defRPr sz="1200" b="1">
                <a:solidFill>
                  <a:srgbClr val="16322F"/>
                </a:solidFill>
                <a:latin typeface="Consolas"/>
              </a:defRPr>
            </a:pPr>
            <a:r>
              <a:t>FOR STARTUPS</a:t>
            </a:r>
          </a:p>
          <a:p>
            <a:br/>
            <a:pPr>
              <a:defRPr sz="2200" b="1">
                <a:solidFill>
                  <a:srgbClr val="0B0F14"/>
                </a:solidFill>
                <a:latin typeface="Trebuchet MS"/>
              </a:defRPr>
            </a:pPr>
            <a:r>
              <a:t>The Vetting Nightmare</a:t>
            </a:r>
          </a:p>
          <a:p>
            <a:br/>
            <a:pPr>
              <a:lnSpc>
                <a:spcPct val="120000"/>
              </a:lnSpc>
              <a:defRPr sz="1400">
                <a:solidFill>
                  <a:srgbClr val="5C6470"/>
                </a:solidFill>
                <a:latin typeface="Segoe UI"/>
              </a:defRPr>
            </a:pPr>
            <a:r>
              <a:t>• High Vetting Overhead: Early-stage startups spend weeks sorting through hundreds of applicant profiles to find one good hire.</a:t>
            </a:r>
          </a:p>
          <a:p>
            <a:br/>
            <a:pPr>
              <a:lnSpc>
                <a:spcPct val="120000"/>
              </a:lnSpc>
              <a:defRPr sz="1400">
                <a:solidFill>
                  <a:srgbClr val="5C6470"/>
                </a:solidFill>
                <a:latin typeface="Segoe UI"/>
              </a:defRPr>
            </a:pPr>
            <a:r>
              <a:t>• High Risk of Bad Hires: Junior developers look great on paper but fail when tasked to touch actual, production codebases.</a:t>
            </a:r>
          </a:p>
          <a:p>
            <a:br/>
            <a:pPr>
              <a:lnSpc>
                <a:spcPct val="120000"/>
              </a:lnSpc>
              <a:defRPr sz="1400">
                <a:solidFill>
                  <a:srgbClr val="5C6470"/>
                </a:solidFill>
                <a:latin typeface="Segoe UI"/>
              </a:defRPr>
            </a:pPr>
            <a:r>
              <a:t>• Limited Budgets: Early-stage companies need modular tasks completed immediately but cannot afford full-time salaries.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C6470"/>
                </a:solidFill>
                <a:latin typeface="Consolas"/>
              </a:defRPr>
            </a:pPr>
            <a:r>
              <a:t>— 02 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B0F14"/>
                </a:solidFill>
                <a:latin typeface="Trebuchet MS"/>
              </a:defRPr>
            </a:pPr>
            <a:r>
              <a:t>InternGrowth: A Proof-of-Work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C6470"/>
                </a:solidFill>
                <a:latin typeface="Segoe UI"/>
              </a:defRPr>
            </a:pPr>
            <a:r>
              <a:t>Replacing the traditional PDF resume with a</a:t>
            </a:r>
          </a:p>
          <a:p>
            <a:br/>
            <a:pPr>
              <a:defRPr sz="2800" b="1">
                <a:solidFill>
                  <a:srgbClr val="FF4F19"/>
                </a:solidFill>
                <a:latin typeface="Trebuchet MS"/>
              </a:defRPr>
            </a:pPr>
            <a:r>
              <a:t>Verified Ledger of Shipped Contributions.</a:t>
            </a:r>
          </a:p>
          <a:p>
            <a:br/>
            <a:pPr>
              <a:lnSpc>
                <a:spcPct val="130000"/>
              </a:lnSpc>
              <a:defRPr sz="1500">
                <a:solidFill>
                  <a:srgbClr val="5C6470"/>
                </a:solidFill>
                <a:latin typeface="Segoe UI"/>
              </a:defRPr>
            </a:pPr>
            <a:r>
              <a:t>By executing real startup tasks, students generate undeniable proof of skill. Startups gain access to vetted, on-demand labor without standard recruiting delays.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828800"/>
            <a:ext cx="5760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/>
            <a:r>
              <a:rPr sz="1400" b="1">
                <a:solidFill>
                  <a:srgbClr val="FF4F19"/>
                </a:solidFill>
                <a:latin typeface="Consolas"/>
              </a:rPr>
              <a:t>01  </a:t>
            </a:r>
            <a:r>
              <a:rPr sz="1500" b="1">
                <a:solidFill>
                  <a:srgbClr val="0B0F14"/>
                </a:solidFill>
                <a:latin typeface="Trebuchet MS"/>
              </a:rPr>
              <a:t>Micro-Tasks with Real Stakes</a:t>
            </a:r>
          </a:p>
          <a:p>
            <a:pPr>
              <a:lnSpc>
                <a:spcPct val="110000"/>
              </a:lnSpc>
              <a:defRPr sz="1200">
                <a:solidFill>
                  <a:srgbClr val="5C6470"/>
                </a:solidFill>
                <a:latin typeface="Segoe UI"/>
              </a:defRPr>
            </a:pPr>
            <a:r>
              <a:t>Startups slice their engineering needs into modular, self-contained tasks (e.g. APIs, UI, bug fixes).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3246120"/>
            <a:ext cx="5760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/>
            <a:r>
              <a:rPr sz="1400" b="1">
                <a:solidFill>
                  <a:srgbClr val="FF4F19"/>
                </a:solidFill>
                <a:latin typeface="Consolas"/>
              </a:rPr>
              <a:t>02  </a:t>
            </a:r>
            <a:r>
              <a:rPr sz="1500" b="1">
                <a:solidFill>
                  <a:srgbClr val="0B0F14"/>
                </a:solidFill>
                <a:latin typeface="Trebuchet MS"/>
              </a:rPr>
              <a:t>Direct Employer Verification</a:t>
            </a:r>
          </a:p>
          <a:p>
            <a:pPr>
              <a:lnSpc>
                <a:spcPct val="110000"/>
              </a:lnSpc>
              <a:defRPr sz="1200">
                <a:solidFill>
                  <a:srgbClr val="5C6470"/>
                </a:solidFill>
                <a:latin typeface="Segoe UI"/>
              </a:defRPr>
            </a:pPr>
            <a:r>
              <a:t>Completed work is approved, evaluated, and signed off directly by startup tech leads on the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4663440"/>
            <a:ext cx="5760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/>
            <a:r>
              <a:rPr sz="1400" b="1">
                <a:solidFill>
                  <a:srgbClr val="FF4F19"/>
                </a:solidFill>
                <a:latin typeface="Consolas"/>
              </a:rPr>
              <a:t>03  </a:t>
            </a:r>
            <a:r>
              <a:rPr sz="1500" b="1">
                <a:solidFill>
                  <a:srgbClr val="0B0F14"/>
                </a:solidFill>
                <a:latin typeface="Trebuchet MS"/>
              </a:rPr>
              <a:t>Portable Skill Profile</a:t>
            </a:r>
          </a:p>
          <a:p>
            <a:pPr>
              <a:lnSpc>
                <a:spcPct val="110000"/>
              </a:lnSpc>
              <a:defRPr sz="1200">
                <a:solidFill>
                  <a:srgbClr val="5C6470"/>
                </a:solidFill>
                <a:latin typeface="Segoe UI"/>
              </a:defRPr>
            </a:pPr>
            <a:r>
              <a:t>A dashboard showing exactly what repositories and tasks you've worked on, backed by startup references.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C6470"/>
                </a:solidFill>
                <a:latin typeface="Consolas"/>
              </a:defRPr>
            </a:pPr>
            <a:r>
              <a:t>— 03 / CORE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B0F14"/>
                </a:solidFill>
                <a:latin typeface="Trebuchet MS"/>
              </a:defRPr>
            </a:pPr>
            <a:r>
              <a:t>IPRS: InternGrowth Portfolio &amp; Reputation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>
                <a:solidFill>
                  <a:srgbClr val="5C6470"/>
                </a:solidFill>
                <a:latin typeface="Segoe UI"/>
              </a:defRPr>
            </a:pPr>
            <a:r>
              <a:t>A dynamic reputation score (0 - 100) calculated algorithmically for every student.</a:t>
            </a:r>
          </a:p>
          <a:p>
            <a:br/>
            <a:pPr>
              <a:lnSpc>
                <a:spcPct val="130000"/>
              </a:lnSpc>
              <a:defRPr sz="1400">
                <a:solidFill>
                  <a:srgbClr val="5C6470"/>
                </a:solidFill>
                <a:latin typeface="Segoe UI"/>
              </a:defRPr>
            </a:pPr>
            <a:r>
              <a:t>Traditional hiring relies on trust. InternGrowth measures trust objectively. The IPRS score travels with students as they apply to advanced roles.</a:t>
            </a:r>
          </a:p>
          <a:p>
            <a:br/>
            <a:pPr>
              <a:defRPr sz="1600" b="1">
                <a:solidFill>
                  <a:srgbClr val="0B0F14"/>
                </a:solidFill>
                <a:latin typeface="Trebuchet MS"/>
              </a:defRPr>
            </a:pPr>
            <a:r>
              <a:t>Four Core Performance Metrics:</a:t>
            </a:r>
          </a:p>
          <a:p>
            <a:pPr>
              <a:defRPr sz="1300">
                <a:solidFill>
                  <a:srgbClr val="5C6470"/>
                </a:solidFill>
                <a:latin typeface="Segoe UI"/>
              </a:defRPr>
            </a:pPr>
            <a:r>
              <a:t>• On-Time Rate: Submission speed vs. agreed task deadlines.</a:t>
            </a:r>
          </a:p>
          <a:p>
            <a:pPr>
              <a:defRPr sz="1300">
                <a:solidFill>
                  <a:srgbClr val="5C6470"/>
                </a:solidFill>
                <a:latin typeface="Segoe UI"/>
              </a:defRPr>
            </a:pPr>
            <a:r>
              <a:t>• Trust Score: Ratio of accepted submissions vs. abandoned tasks.</a:t>
            </a:r>
          </a:p>
          <a:p>
            <a:pPr>
              <a:defRPr sz="1300">
                <a:solidFill>
                  <a:srgbClr val="5C6470"/>
                </a:solidFill>
                <a:latin typeface="Segoe UI"/>
              </a:defRPr>
            </a:pPr>
            <a:r>
              <a:t>• Communication: Collaboration feedback from startup mentors.</a:t>
            </a:r>
          </a:p>
          <a:p>
            <a:pPr>
              <a:defRPr sz="1300">
                <a:solidFill>
                  <a:srgbClr val="5C6470"/>
                </a:solidFill>
                <a:latin typeface="Segoe UI"/>
              </a:defRPr>
            </a:pPr>
            <a:r>
              <a:t>• Satisfaction: The code quality rating assigned by startup engineers.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029200" cy="4114800"/>
          </a:xfrm>
          <a:prstGeom prst="roundRect">
            <a:avLst/>
          </a:prstGeom>
          <a:solidFill>
            <a:srgbClr val="0F1217"/>
          </a:solidFill>
          <a:ln>
            <a:solidFill>
              <a:srgbClr val="1B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365760"/>
          <a:lstStyle/>
          <a:p>
            <a:pPr algn="ctr">
              <a:defRPr sz="1100" b="1">
                <a:solidFill>
                  <a:srgbClr val="5C6470"/>
                </a:solidFill>
                <a:latin typeface="Consolas"/>
              </a:defRPr>
            </a:pPr>
            <a:r>
              <a:t>LIVE · TALENT PROFILE</a:t>
            </a:r>
          </a:p>
          <a:p>
            <a:br/>
            <a:pPr>
              <a:defRPr sz="2400" b="1">
                <a:solidFill>
                  <a:srgbClr val="F2EEE5"/>
                </a:solidFill>
                <a:latin typeface="Trebuchet MS"/>
              </a:defRPr>
            </a:pPr>
            <a:r>
              <a:t>Rahul S.  [VERIFIED]</a:t>
            </a:r>
          </a:p>
          <a:p>
            <a:pPr>
              <a:defRPr sz="1100">
                <a:solidFill>
                  <a:srgbClr val="5C6470"/>
                </a:solidFill>
                <a:latin typeface="Consolas"/>
              </a:defRPr>
            </a:pPr>
            <a:r>
              <a:t>IIT Bombay · Computer Science '27</a:t>
            </a:r>
          </a:p>
          <a:p>
            <a:br/>
            <a:pPr>
              <a:defRPr sz="1200">
                <a:solidFill>
                  <a:srgbClr val="5C6470"/>
                </a:solidFill>
                <a:latin typeface="Consolas"/>
              </a:defRPr>
            </a:pPr>
            <a:r>
              <a:t>IPRS Reputation Score</a:t>
            </a:r>
          </a:p>
          <a:p>
            <a:pPr>
              <a:defRPr sz="6400" b="1">
                <a:solidFill>
                  <a:srgbClr val="D4F95E"/>
                </a:solidFill>
                <a:latin typeface="Trebuchet MS"/>
              </a:defRPr>
            </a:pPr>
            <a:r>
              <a:t>94</a:t>
            </a:r>
          </a:p>
          <a:p>
            <a:pPr>
              <a:defRPr sz="1200">
                <a:solidFill>
                  <a:srgbClr val="F2EEE5"/>
                </a:solidFill>
                <a:latin typeface="Segoe UI"/>
              </a:defRPr>
            </a:pPr>
            <a:r>
              <a:t>Ranked #1 on Global Leaderboard  ·  Elite Tier</a:t>
            </a:r>
          </a:p>
          <a:p>
            <a:br/>
            <a:pPr>
              <a:defRPr sz="1100">
                <a:solidFill>
                  <a:srgbClr val="B3DD37"/>
                </a:solidFill>
                <a:latin typeface="Consolas"/>
              </a:defRPr>
            </a:pPr>
            <a:r>
              <a:t>On-Time: 98%  |  Trust: 100%  |  Comm: 9.5/10  |  Projects: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C6470"/>
                </a:solidFill>
                <a:latin typeface="Consolas"/>
              </a:defRPr>
            </a:pPr>
            <a:r>
              <a:t>— 04 / STUDENT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B0F14"/>
                </a:solidFill>
                <a:latin typeface="Trebuchet MS"/>
              </a:defRPr>
            </a:pPr>
            <a:r>
              <a:t>The Student Journey on InternGrowth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3774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2800" b="1">
                <a:solidFill>
                  <a:srgbClr val="FF4F19"/>
                </a:solidFill>
                <a:latin typeface="Consolas"/>
              </a:defRPr>
            </a:pPr>
            <a:r>
              <a:t>01</a:t>
            </a:r>
          </a:p>
          <a:p>
            <a:pPr>
              <a:defRPr sz="1600" b="1">
                <a:solidFill>
                  <a:srgbClr val="0B0F14"/>
                </a:solidFill>
                <a:latin typeface="Trebuchet MS"/>
              </a:defRPr>
            </a:pPr>
            <a:r>
              <a:t>College Verification</a:t>
            </a:r>
          </a:p>
          <a:p>
            <a:br/>
            <a:pPr>
              <a:lnSpc>
                <a:spcPct val="120000"/>
              </a:lnSpc>
              <a:defRPr sz="1200">
                <a:solidFill>
                  <a:srgbClr val="5C6470"/>
                </a:solidFill>
                <a:latin typeface="Segoe UI"/>
              </a:defRPr>
            </a:pPr>
            <a:r>
              <a:t>Students sign up and verify their college email (.edu, .ac.in). Unverified students are limited to 5 trial tasks to prevent spam.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011680"/>
            <a:ext cx="23774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2800" b="1">
                <a:solidFill>
                  <a:srgbClr val="FF4F19"/>
                </a:solidFill>
                <a:latin typeface="Consolas"/>
              </a:defRPr>
            </a:pPr>
            <a:r>
              <a:t>02</a:t>
            </a:r>
          </a:p>
          <a:p>
            <a:pPr>
              <a:defRPr sz="1600" b="1">
                <a:solidFill>
                  <a:srgbClr val="0B0F14"/>
                </a:solidFill>
                <a:latin typeface="Trebuchet MS"/>
              </a:defRPr>
            </a:pPr>
            <a:r>
              <a:t>Explore &amp; Apply</a:t>
            </a:r>
          </a:p>
          <a:p>
            <a:br/>
            <a:pPr>
              <a:lnSpc>
                <a:spcPct val="120000"/>
              </a:lnSpc>
              <a:defRPr sz="1200">
                <a:solidFill>
                  <a:srgbClr val="5C6470"/>
                </a:solidFill>
                <a:latin typeface="Segoe UI"/>
              </a:defRPr>
            </a:pPr>
            <a:r>
              <a:t>Students browse real startup tasks. High IPRS students can lock tasks instantly, while others apply to be approved.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3774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2800" b="1">
                <a:solidFill>
                  <a:srgbClr val="FF4F19"/>
                </a:solidFill>
                <a:latin typeface="Consolas"/>
              </a:defRPr>
            </a:pPr>
            <a:r>
              <a:t>03</a:t>
            </a:r>
          </a:p>
          <a:p>
            <a:pPr>
              <a:defRPr sz="1600" b="1">
                <a:solidFill>
                  <a:srgbClr val="0B0F14"/>
                </a:solidFill>
                <a:latin typeface="Trebuchet MS"/>
              </a:defRPr>
            </a:pPr>
            <a:r>
              <a:t>Build &amp; Ship</a:t>
            </a:r>
          </a:p>
          <a:p>
            <a:br/>
            <a:pPr>
              <a:lnSpc>
                <a:spcPct val="120000"/>
              </a:lnSpc>
              <a:defRPr sz="1200">
                <a:solidFill>
                  <a:srgbClr val="5C6470"/>
                </a:solidFill>
                <a:latin typeface="Segoe UI"/>
              </a:defRPr>
            </a:pPr>
            <a:r>
              <a:t>Students complete the task inside the workspace. They submit pull requests, demo links, and time metrics directly on the portal.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2011680"/>
            <a:ext cx="23774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2800" b="1">
                <a:solidFill>
                  <a:srgbClr val="FF4F19"/>
                </a:solidFill>
                <a:latin typeface="Consolas"/>
              </a:defRPr>
            </a:pPr>
            <a:r>
              <a:t>04</a:t>
            </a:r>
          </a:p>
          <a:p>
            <a:pPr>
              <a:defRPr sz="1600" b="1">
                <a:solidFill>
                  <a:srgbClr val="0B0F14"/>
                </a:solidFill>
                <a:latin typeface="Trebuchet MS"/>
              </a:defRPr>
            </a:pPr>
            <a:r>
              <a:t>Earn &amp; Level Up</a:t>
            </a:r>
          </a:p>
          <a:p>
            <a:br/>
            <a:pPr>
              <a:lnSpc>
                <a:spcPct val="120000"/>
              </a:lnSpc>
              <a:defRPr sz="1200">
                <a:solidFill>
                  <a:srgbClr val="5C6470"/>
                </a:solidFill>
                <a:latin typeface="Segoe UI"/>
              </a:defRPr>
            </a:pPr>
            <a:r>
              <a:t>Startups review the work. On approval, escrow funds are paid to the student's wallet, and their global IPRS score increases.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C6470"/>
                </a:solidFill>
                <a:latin typeface="Consolas"/>
              </a:defRPr>
            </a:pPr>
            <a:r>
              <a:t>— 05 / SYSTEM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B0F14"/>
                </a:solidFill>
                <a:latin typeface="Trebuchet MS"/>
              </a:defRPr>
            </a:pPr>
            <a:r>
              <a:t>Decentralized Operations &amp; Moderation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846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365760"/>
          <a:lstStyle/>
          <a:p>
            <a:pPr algn="ctr">
              <a:defRPr sz="1200" b="1">
                <a:solidFill>
                  <a:srgbClr val="16322F"/>
                </a:solidFill>
                <a:latin typeface="Consolas"/>
              </a:defRPr>
            </a:pPr>
            <a:r>
              <a:t>STARTUP WORKFLOW</a:t>
            </a:r>
          </a:p>
          <a:p>
            <a:br/>
            <a:pPr>
              <a:lnSpc>
                <a:spcPct val="120000"/>
              </a:lnSpc>
              <a:defRPr sz="1400">
                <a:solidFill>
                  <a:srgbClr val="5C6470"/>
                </a:solidFill>
                <a:latin typeface="Segoe UI"/>
              </a:defRPr>
            </a:pPr>
            <a:r>
              <a:t>• Verify Business: Startups request admin verification to prevent fake projects.</a:t>
            </a:r>
          </a:p>
          <a:p>
            <a:br/>
            <a:pPr>
              <a:lnSpc>
                <a:spcPct val="120000"/>
              </a:lnSpc>
              <a:defRPr sz="1400">
                <a:solidFill>
                  <a:srgbClr val="5C6470"/>
                </a:solidFill>
                <a:latin typeface="Segoe UI"/>
              </a:defRPr>
            </a:pPr>
            <a:r>
              <a:t>• Fund Escrow: Startups deposit funds to their wallet before a task goes live, guaranteeing student payment.</a:t>
            </a:r>
          </a:p>
          <a:p>
            <a:br/>
            <a:pPr>
              <a:lnSpc>
                <a:spcPct val="120000"/>
              </a:lnSpc>
              <a:defRPr sz="1400">
                <a:solidFill>
                  <a:srgbClr val="5C6470"/>
                </a:solidFill>
                <a:latin typeface="Segoe UI"/>
              </a:defRPr>
            </a:pPr>
            <a:r>
              <a:t>• Review Work: Direct UI dashboard to review students' pull requests and host codes.</a:t>
            </a:r>
          </a:p>
          <a:p>
            <a:br/>
            <a:pPr>
              <a:lnSpc>
                <a:spcPct val="120000"/>
              </a:lnSpc>
              <a:defRPr sz="1400">
                <a:solidFill>
                  <a:srgbClr val="5C6470"/>
                </a:solidFill>
                <a:latin typeface="Segoe UI"/>
              </a:defRPr>
            </a:pPr>
            <a:r>
              <a:t>• Recruit Direct: Startups can filter the leaderboard by IPRS score to recruit top performers for internships or jobs.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28232" y="1828800"/>
            <a:ext cx="4846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365760"/>
          <a:lstStyle/>
          <a:p>
            <a:pPr algn="ctr">
              <a:defRPr sz="1200" b="1">
                <a:solidFill>
                  <a:srgbClr val="FF4F19"/>
                </a:solidFill>
                <a:latin typeface="Consolas"/>
              </a:defRPr>
            </a:pPr>
            <a:r>
              <a:t>ADMIN MODERATION</a:t>
            </a:r>
          </a:p>
          <a:p>
            <a:br/>
            <a:pPr>
              <a:lnSpc>
                <a:spcPct val="120000"/>
              </a:lnSpc>
              <a:defRPr sz="1400">
                <a:solidFill>
                  <a:srgbClr val="5C6470"/>
                </a:solidFill>
                <a:latin typeface="Segoe UI"/>
              </a:defRPr>
            </a:pPr>
            <a:r>
              <a:t>• Vetting Dashboard: Dedicated admin views to approve or reject startup registration requests.</a:t>
            </a:r>
          </a:p>
          <a:p>
            <a:br/>
            <a:pPr>
              <a:lnSpc>
                <a:spcPct val="120000"/>
              </a:lnSpc>
              <a:defRPr sz="1400">
                <a:solidFill>
                  <a:srgbClr val="5C6470"/>
                </a:solidFill>
                <a:latin typeface="Segoe UI"/>
              </a:defRPr>
            </a:pPr>
            <a:r>
              <a:t>• Wallet Escrow Checks: High-level overview of deposits, pending tasks, and global wallet ledger metrics.</a:t>
            </a:r>
          </a:p>
          <a:p>
            <a:br/>
            <a:pPr>
              <a:lnSpc>
                <a:spcPct val="120000"/>
              </a:lnSpc>
              <a:defRPr sz="1400">
                <a:solidFill>
                  <a:srgbClr val="5C6470"/>
                </a:solidFill>
                <a:latin typeface="Segoe UI"/>
              </a:defRPr>
            </a:pPr>
            <a:r>
              <a:t>• Student Moderation: Track reported tasks or flag students engaged in academic dishonesty/cheating.</a:t>
            </a:r>
          </a:p>
          <a:p>
            <a:br/>
            <a:pPr>
              <a:lnSpc>
                <a:spcPct val="120000"/>
              </a:lnSpc>
              <a:defRPr sz="1400">
                <a:solidFill>
                  <a:srgbClr val="5C6470"/>
                </a:solidFill>
                <a:latin typeface="Segoe UI"/>
              </a:defRPr>
            </a:pPr>
            <a:r>
              <a:t>• Global Analytics: View the system metrics (Task success rates, average time to deliver, active funding).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C6470"/>
                </a:solidFill>
                <a:latin typeface="Consolas"/>
              </a:defRPr>
            </a:pPr>
            <a:r>
              <a:t>— 06 / FEATURES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B0F14"/>
                </a:solidFill>
                <a:latin typeface="Trebuchet MS"/>
              </a:defRPr>
            </a:pPr>
            <a:r>
              <a:t>Platform Capabilities &amp; Codebase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16322F"/>
                </a:solidFill>
                <a:latin typeface="Trebuchet MS"/>
              </a:defRPr>
            </a:pPr>
            <a:r>
              <a:t>Verification Core</a:t>
            </a:r>
          </a:p>
          <a:p>
            <a:pPr>
              <a:defRPr sz="1200">
                <a:solidFill>
                  <a:srgbClr val="FF4F19"/>
                </a:solidFill>
                <a:latin typeface="Consolas"/>
              </a:defRPr>
            </a:pPr>
            <a:r>
              <a:t>—</a:t>
            </a:r>
          </a:p>
          <a:p>
            <a:br/>
            <a:pPr>
              <a:lnSpc>
                <a:spcPct val="135000"/>
              </a:lnSpc>
              <a:defRPr sz="1300">
                <a:solidFill>
                  <a:srgbClr val="5C6470"/>
                </a:solidFill>
                <a:latin typeface="Segoe UI"/>
              </a:defRPr>
            </a:pPr>
            <a:r>
              <a:t>A custom verification engine validating student emails against academic domains (.edu, .ac.in). Unverified users have a hard 5-task limit. Admins manually verify all business registrations.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01168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16322F"/>
                </a:solidFill>
                <a:latin typeface="Trebuchet MS"/>
              </a:defRPr>
            </a:pPr>
            <a:r>
              <a:t>Integrated Wallet</a:t>
            </a:r>
          </a:p>
          <a:p>
            <a:pPr>
              <a:defRPr sz="1200">
                <a:solidFill>
                  <a:srgbClr val="FF4F19"/>
                </a:solidFill>
                <a:latin typeface="Consolas"/>
              </a:defRPr>
            </a:pPr>
            <a:r>
              <a:t>—</a:t>
            </a:r>
          </a:p>
          <a:p>
            <a:br/>
            <a:pPr>
              <a:lnSpc>
                <a:spcPct val="135000"/>
              </a:lnSpc>
              <a:defRPr sz="1300">
                <a:solidFill>
                  <a:srgbClr val="5C6470"/>
                </a:solidFill>
                <a:latin typeface="Segoe UI"/>
              </a:defRPr>
            </a:pPr>
            <a:r>
              <a:t>Supports escrow funding. Startups fund task wallets. Funds are held in escrow, then released to student wallets on task approval. Allows admins manual credits &amp; withdrawals.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16322F"/>
                </a:solidFill>
                <a:latin typeface="Trebuchet MS"/>
              </a:defRPr>
            </a:pPr>
            <a:r>
              <a:t>Reputation Engine</a:t>
            </a:r>
          </a:p>
          <a:p>
            <a:pPr>
              <a:defRPr sz="1200">
                <a:solidFill>
                  <a:srgbClr val="FF4F19"/>
                </a:solidFill>
                <a:latin typeface="Consolas"/>
              </a:defRPr>
            </a:pPr>
            <a:r>
              <a:t>—</a:t>
            </a:r>
          </a:p>
          <a:p>
            <a:br/>
            <a:pPr>
              <a:lnSpc>
                <a:spcPct val="135000"/>
              </a:lnSpc>
              <a:defRPr sz="1300">
                <a:solidFill>
                  <a:srgbClr val="5C6470"/>
                </a:solidFill>
                <a:latin typeface="Segoe UI"/>
              </a:defRPr>
            </a:pPr>
            <a:r>
              <a:t>Calculates overall IPRS score dynamically. Aggregates delivery time, communication rating, and founder satisfaction. Renders live badges (Elite, Pro, Rising) on profiles.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C6470"/>
                </a:solidFill>
                <a:latin typeface="Consolas"/>
              </a:defRPr>
            </a:pPr>
            <a:r>
              <a:t>— 07 / TECH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B0F14"/>
                </a:solidFill>
                <a:latin typeface="Trebuchet MS"/>
              </a:defRPr>
            </a:pPr>
            <a:r>
              <a:t>Our Robust, Production-Ready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0F14"/>
                </a:solidFill>
                <a:latin typeface="Trebuchet MS"/>
              </a:defRPr>
            </a:pPr>
            <a:r>
              <a:t>Larval (PHP) Model-View-Controller</a:t>
            </a:r>
          </a:p>
          <a:p>
            <a:br/>
            <a:pPr>
              <a:lnSpc>
                <a:spcPct val="125000"/>
              </a:lnSpc>
              <a:defRPr sz="1300">
                <a:solidFill>
                  <a:srgbClr val="5C6470"/>
                </a:solidFill>
                <a:latin typeface="Segoe UI"/>
              </a:defRPr>
            </a:pPr>
            <a:r>
              <a:t>• Backend Engine: Powered by Laravel 11. Implements controllers, request validations, service layers, database migrations, and mail queues.</a:t>
            </a:r>
          </a:p>
          <a:p>
            <a:br/>
            <a:pPr>
              <a:lnSpc>
                <a:spcPct val="125000"/>
              </a:lnSpc>
              <a:defRPr sz="1300">
                <a:solidFill>
                  <a:srgbClr val="5C6470"/>
                </a:solidFill>
                <a:latin typeface="Segoe UI"/>
              </a:defRPr>
            </a:pPr>
            <a:r>
              <a:t>• Secure Database: Relational schema using PostgreSQL / MySQL. Handles cascading deletes, foreign keys, constraints, and audit-friendly ledgers.</a:t>
            </a:r>
          </a:p>
          <a:p>
            <a:br/>
            <a:pPr>
              <a:lnSpc>
                <a:spcPct val="125000"/>
              </a:lnSpc>
              <a:defRPr sz="1300">
                <a:solidFill>
                  <a:srgbClr val="5C6470"/>
                </a:solidFill>
                <a:latin typeface="Segoe UI"/>
              </a:defRPr>
            </a:pPr>
            <a:r>
              <a:t>• Security &amp; Authentication: Email verification validation, session-based authentications, and password hashing standard.</a:t>
            </a:r>
          </a:p>
          <a:p>
            <a:br/>
            <a:pPr>
              <a:lnSpc>
                <a:spcPct val="125000"/>
              </a:lnSpc>
              <a:defRPr sz="1300">
                <a:solidFill>
                  <a:srgbClr val="5C6470"/>
                </a:solidFill>
                <a:latin typeface="Segoe UI"/>
              </a:defRPr>
            </a:pPr>
            <a:r>
              <a:t>• Blade Templates: Styled using CSS variables. Pure editorial aesthetics with custom layouts, custom CSS animations, and responsiveness.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4876495" cy="4114800"/>
          </a:xfrm>
          <a:prstGeom prst="roundRect">
            <a:avLst/>
          </a:prstGeom>
          <a:solidFill>
            <a:srgbClr val="16322F"/>
          </a:solidFill>
          <a:ln>
            <a:solidFill>
              <a:srgbClr val="163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365760"/>
          <a:lstStyle/>
          <a:p>
            <a:pPr algn="ctr">
              <a:defRPr sz="1200" b="1">
                <a:solidFill>
                  <a:srgbClr val="D4F95E"/>
                </a:solidFill>
                <a:latin typeface="Consolas"/>
              </a:defRPr>
            </a:pPr>
            <a:r>
              <a:t>STACK SPECIFICATIONS</a:t>
            </a:r>
          </a:p>
          <a:p>
            <a:br/>
            <a:pPr>
              <a:defRPr sz="1100" b="1">
                <a:solidFill>
                  <a:srgbClr val="F2EEE5"/>
                </a:solidFill>
                <a:latin typeface="Consolas"/>
              </a:defRPr>
            </a:pPr>
            <a:r>
              <a:t>FRAMEWORK</a:t>
            </a:r>
          </a:p>
          <a:p>
            <a:pPr>
              <a:defRPr sz="1300">
                <a:solidFill>
                  <a:srgbClr val="B3DD37"/>
                </a:solidFill>
                <a:latin typeface="Segoe UI"/>
              </a:defRPr>
            </a:pPr>
            <a:r>
              <a:t>Laravel 11.x (PHP 8.2+)</a:t>
            </a:r>
          </a:p>
          <a:p>
            <a:br/>
            <a:pPr>
              <a:defRPr sz="1100" b="1">
                <a:solidFill>
                  <a:srgbClr val="F2EEE5"/>
                </a:solidFill>
                <a:latin typeface="Consolas"/>
              </a:defRPr>
            </a:pPr>
            <a:r>
              <a:t>DATABASE</a:t>
            </a:r>
          </a:p>
          <a:p>
            <a:pPr>
              <a:defRPr sz="1300">
                <a:solidFill>
                  <a:srgbClr val="B3DD37"/>
                </a:solidFill>
                <a:latin typeface="Segoe UI"/>
              </a:defRPr>
            </a:pPr>
            <a:r>
              <a:t>PostgreSQL / MySQL (Neon Serverless Db)</a:t>
            </a:r>
          </a:p>
          <a:p>
            <a:br/>
            <a:pPr>
              <a:defRPr sz="1100" b="1">
                <a:solidFill>
                  <a:srgbClr val="F2EEE5"/>
                </a:solidFill>
                <a:latin typeface="Consolas"/>
              </a:defRPr>
            </a:pPr>
            <a:r>
              <a:t>FRONTEND</a:t>
            </a:r>
          </a:p>
          <a:p>
            <a:pPr>
              <a:defRPr sz="1300">
                <a:solidFill>
                  <a:srgbClr val="B3DD37"/>
                </a:solidFill>
                <a:latin typeface="Segoe UI"/>
              </a:defRPr>
            </a:pPr>
            <a:r>
              <a:t>Blade Template Engine, CSS Design System, Tailwind</a:t>
            </a:r>
          </a:p>
          <a:p>
            <a:br/>
            <a:pPr>
              <a:defRPr sz="1100" b="1">
                <a:solidFill>
                  <a:srgbClr val="F2EEE5"/>
                </a:solidFill>
                <a:latin typeface="Consolas"/>
              </a:defRPr>
            </a:pPr>
            <a:r>
              <a:t>WALLET SYSTEM</a:t>
            </a:r>
          </a:p>
          <a:p>
            <a:pPr>
              <a:defRPr sz="1300">
                <a:solidFill>
                  <a:srgbClr val="B3DD37"/>
                </a:solidFill>
                <a:latin typeface="Segoe UI"/>
              </a:defRPr>
            </a:pPr>
            <a:r>
              <a:t>Virtual ledger, Secure escrow tables</a:t>
            </a:r>
          </a:p>
          <a:p>
            <a:br/>
            <a:pPr>
              <a:defRPr sz="1100" b="1">
                <a:solidFill>
                  <a:srgbClr val="F2EEE5"/>
                </a:solidFill>
                <a:latin typeface="Consolas"/>
              </a:defRPr>
            </a:pPr>
            <a:r>
              <a:t>AI GRADER</a:t>
            </a:r>
          </a:p>
          <a:p>
            <a:pPr>
              <a:defRPr sz="1300">
                <a:solidFill>
                  <a:srgbClr val="B3DD37"/>
                </a:solidFill>
                <a:latin typeface="Segoe UI"/>
              </a:defRPr>
            </a:pPr>
            <a:r>
              <a:t>Optional integration API for code assessment</a:t>
            </a:r>
          </a:p>
          <a:p>
            <a:br/>
            <a:pPr>
              <a:defRPr sz="1100" b="1">
                <a:solidFill>
                  <a:srgbClr val="F2EEE5"/>
                </a:solidFill>
                <a:latin typeface="Consolas"/>
              </a:defRPr>
            </a:pPr>
            <a:r>
              <a:t>MAIL SERVICE</a:t>
            </a:r>
          </a:p>
          <a:p>
            <a:pPr>
              <a:defRPr sz="1300">
                <a:solidFill>
                  <a:srgbClr val="B3DD37"/>
                </a:solidFill>
                <a:latin typeface="Segoe UI"/>
              </a:defRPr>
            </a:pPr>
            <a:r>
              <a:t>SMTP Mail Trap, College domain verification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C6470"/>
                </a:solidFill>
                <a:latin typeface="Consolas"/>
              </a:defRPr>
            </a:pPr>
            <a:r>
              <a:t>— 08 / THE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B0F14"/>
                </a:solidFill>
                <a:latin typeface="Trebuchet MS"/>
              </a:defRPr>
            </a:pPr>
            <a:r>
              <a:t>Why InternGrowth Wins the Hackathon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 bIns="320040"/>
          <a:lstStyle/>
          <a:p>
            <a:pPr algn="ctr">
              <a:defRPr sz="2000" b="1">
                <a:solidFill>
                  <a:srgbClr val="FF4F19"/>
                </a:solidFill>
                <a:latin typeface="Consolas"/>
              </a:defRPr>
            </a:pPr>
            <a:r>
              <a:t>01</a:t>
            </a:r>
          </a:p>
          <a:p>
            <a:pPr>
              <a:defRPr sz="1700" b="1">
                <a:solidFill>
                  <a:srgbClr val="0B0F14"/>
                </a:solidFill>
                <a:latin typeface="Trebuchet MS"/>
              </a:defRPr>
            </a:pPr>
            <a:r>
              <a:t>Solves a Real Pain-Point</a:t>
            </a:r>
          </a:p>
          <a:p>
            <a:br/>
            <a:pPr>
              <a:lnSpc>
                <a:spcPct val="130000"/>
              </a:lnSpc>
              <a:defRPr sz="1300">
                <a:solidFill>
                  <a:srgbClr val="5C6470"/>
                </a:solidFill>
                <a:latin typeface="Segoe UI"/>
              </a:defRPr>
            </a:pPr>
            <a:r>
              <a:t>It bridges the massive experience gap for students and reduces vetting risks/costs for cash-strapped early-stage startups.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01168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 bIns="320040"/>
          <a:lstStyle/>
          <a:p>
            <a:pPr algn="ctr">
              <a:defRPr sz="2000" b="1">
                <a:solidFill>
                  <a:srgbClr val="FF4F19"/>
                </a:solidFill>
                <a:latin typeface="Consolas"/>
              </a:defRPr>
            </a:pPr>
            <a:r>
              <a:t>02</a:t>
            </a:r>
          </a:p>
          <a:p>
            <a:pPr>
              <a:defRPr sz="1700" b="1">
                <a:solidFill>
                  <a:srgbClr val="0B0F14"/>
                </a:solidFill>
                <a:latin typeface="Trebuchet MS"/>
              </a:defRPr>
            </a:pPr>
            <a:r>
              <a:t>Proof over Credentials</a:t>
            </a:r>
          </a:p>
          <a:p>
            <a:br/>
            <a:pPr>
              <a:lnSpc>
                <a:spcPct val="130000"/>
              </a:lnSpc>
              <a:defRPr sz="1300">
                <a:solidFill>
                  <a:srgbClr val="5C6470"/>
                </a:solidFill>
                <a:latin typeface="Segoe UI"/>
              </a:defRPr>
            </a:pPr>
            <a:r>
              <a:t>We eliminate CV fraud. A student's rank is based entirely on actual, verified performance, not university brand name.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 bIns="320040"/>
          <a:lstStyle/>
          <a:p>
            <a:pPr algn="ctr">
              <a:defRPr sz="2000" b="1">
                <a:solidFill>
                  <a:srgbClr val="FF4F19"/>
                </a:solidFill>
                <a:latin typeface="Consolas"/>
              </a:defRPr>
            </a:pPr>
            <a:r>
              <a:t>03</a:t>
            </a:r>
          </a:p>
          <a:p>
            <a:pPr>
              <a:defRPr sz="1700" b="1">
                <a:solidFill>
                  <a:srgbClr val="0B0F14"/>
                </a:solidFill>
                <a:latin typeface="Trebuchet MS"/>
              </a:defRPr>
            </a:pPr>
            <a:r>
              <a:t>Frictionless Onboarding</a:t>
            </a:r>
          </a:p>
          <a:p>
            <a:br/>
            <a:pPr>
              <a:lnSpc>
                <a:spcPct val="130000"/>
              </a:lnSpc>
              <a:defRPr sz="1300">
                <a:solidFill>
                  <a:srgbClr val="5C6470"/>
                </a:solidFill>
                <a:latin typeface="Segoe UI"/>
              </a:defRPr>
            </a:pPr>
            <a:r>
              <a:t>Vetted workflows, automated portfolios, simple tasks, and integrated digital wallets make it extremely easy to start immediately.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4F19"/>
                </a:solidFill>
                <a:latin typeface="Consolas"/>
              </a:defRPr>
            </a:pPr>
            <a:r>
              <a:t>—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2EEE5"/>
                </a:solidFill>
                <a:latin typeface="Trebuchet MS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2EEE5"/>
                </a:solidFill>
                <a:latin typeface="Trebuchet MS"/>
              </a:defRPr>
            </a:pPr>
            <a:r>
              <a:t>Build. Verify. Grow.</a:t>
            </a:r>
          </a:p>
          <a:p>
            <a:pPr>
              <a:defRPr sz="2800" i="1">
                <a:solidFill>
                  <a:srgbClr val="D4F95E"/>
                </a:solidFill>
                <a:latin typeface="Georgia"/>
              </a:defRPr>
            </a:pPr>
            <a:r>
              <a:t>The New Credential Layer for the Student Developer Economy.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2EEE5"/>
                </a:solidFill>
                <a:latin typeface="Segoe UI"/>
              </a:defRPr>
            </a:pPr>
            <a:r>
              <a:t>Check out InternGrowth live on our server or browse tasks locally!</a:t>
            </a:r>
          </a:p>
          <a:p>
            <a:br/>
            <a:pPr>
              <a:defRPr sz="1800" b="1">
                <a:solidFill>
                  <a:srgbClr val="FF4F19"/>
                </a:solidFill>
                <a:latin typeface="Segoe UI"/>
              </a:defRPr>
            </a:pPr>
            <a:r>
              <a:t>Thank You!  |  Q&amp;A Session</a:t>
            </a:r>
          </a:p>
          <a:p>
            <a:pPr>
              <a:defRPr sz="1200">
                <a:solidFill>
                  <a:srgbClr val="5C6470"/>
                </a:solidFill>
                <a:latin typeface="Consolas"/>
              </a:defRPr>
            </a:pPr>
            <a:r>
              <a:t>Github: github.com/interngrowth  ·  Website: interngrowth.dev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